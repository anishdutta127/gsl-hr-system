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58" r:id="rId4"/>
    <p:sldId id="259" r:id="rId5"/>
    <p:sldId id="263" r:id="rId6"/>
    <p:sldId id="266" r:id="rId7"/>
    <p:sldId id="270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JIuFkcHwFQKdpDG58CllTeDM4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GSL">
  <p:cSld name="Chart GSL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/>
          <p:nvPr/>
        </p:nvSpPr>
        <p:spPr>
          <a:xfrm>
            <a:off x="517525" y="1446244"/>
            <a:ext cx="4289253" cy="479391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FFFEF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" name="Google Shape;20;p24"/>
          <p:cNvSpPr txBox="1">
            <a:spLocks noGrp="1"/>
          </p:cNvSpPr>
          <p:nvPr>
            <p:ph type="title"/>
          </p:nvPr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" name="Google Shape;24;p24"/>
          <p:cNvSpPr>
            <a:spLocks noGrp="1"/>
          </p:cNvSpPr>
          <p:nvPr>
            <p:ph type="chart" idx="2"/>
          </p:nvPr>
        </p:nvSpPr>
        <p:spPr>
          <a:xfrm>
            <a:off x="517525" y="1781175"/>
            <a:ext cx="4114800" cy="383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AD4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4984750" y="2011363"/>
            <a:ext cx="5543550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cess 2 GSL">
  <p:cSld name="Process 2 GSL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>
            <a:spLocks noGrp="1"/>
          </p:cNvSpPr>
          <p:nvPr>
            <p:ph type="title"/>
          </p:nvPr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" name="Google Shape;31;p25"/>
          <p:cNvSpPr/>
          <p:nvPr/>
        </p:nvSpPr>
        <p:spPr>
          <a:xfrm>
            <a:off x="0" y="2926080"/>
            <a:ext cx="12192000" cy="4118776"/>
          </a:xfrm>
          <a:prstGeom prst="rect">
            <a:avLst/>
          </a:prstGeom>
          <a:solidFill>
            <a:srgbClr val="07339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" name="Google Shape;32;p25"/>
          <p:cNvSpPr/>
          <p:nvPr/>
        </p:nvSpPr>
        <p:spPr>
          <a:xfrm>
            <a:off x="1175475" y="1948072"/>
            <a:ext cx="3061252" cy="9780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" name="Google Shape;33;p25"/>
          <p:cNvSpPr/>
          <p:nvPr/>
        </p:nvSpPr>
        <p:spPr>
          <a:xfrm>
            <a:off x="1175475" y="2926080"/>
            <a:ext cx="3061252" cy="34302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" name="Google Shape;34;p25"/>
          <p:cNvSpPr/>
          <p:nvPr/>
        </p:nvSpPr>
        <p:spPr>
          <a:xfrm>
            <a:off x="4454725" y="1948072"/>
            <a:ext cx="3061252" cy="9780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" name="Google Shape;35;p25"/>
          <p:cNvSpPr/>
          <p:nvPr/>
        </p:nvSpPr>
        <p:spPr>
          <a:xfrm>
            <a:off x="4454725" y="2926080"/>
            <a:ext cx="3061252" cy="34302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" name="Google Shape;36;p25"/>
          <p:cNvSpPr/>
          <p:nvPr/>
        </p:nvSpPr>
        <p:spPr>
          <a:xfrm>
            <a:off x="7724699" y="1948072"/>
            <a:ext cx="3061252" cy="9780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" name="Google Shape;37;p25"/>
          <p:cNvSpPr/>
          <p:nvPr/>
        </p:nvSpPr>
        <p:spPr>
          <a:xfrm>
            <a:off x="7724699" y="2926080"/>
            <a:ext cx="3061252" cy="34302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" name="Google Shape;38;p25"/>
          <p:cNvSpPr txBox="1">
            <a:spLocks noGrp="1"/>
          </p:cNvSpPr>
          <p:nvPr>
            <p:ph type="body" idx="1"/>
          </p:nvPr>
        </p:nvSpPr>
        <p:spPr>
          <a:xfrm>
            <a:off x="7955956" y="3095137"/>
            <a:ext cx="2598738" cy="304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2"/>
          </p:nvPr>
        </p:nvSpPr>
        <p:spPr>
          <a:xfrm>
            <a:off x="4685982" y="3116263"/>
            <a:ext cx="2598738" cy="304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3"/>
          </p:nvPr>
        </p:nvSpPr>
        <p:spPr>
          <a:xfrm>
            <a:off x="1475643" y="3116263"/>
            <a:ext cx="2598738" cy="304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inters Background">
  <p:cSld name="Pointers Background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/>
          <p:nvPr/>
        </p:nvSpPr>
        <p:spPr>
          <a:xfrm>
            <a:off x="0" y="1569308"/>
            <a:ext cx="12192000" cy="1859692"/>
          </a:xfrm>
          <a:prstGeom prst="rect">
            <a:avLst/>
          </a:prstGeom>
          <a:solidFill>
            <a:srgbClr val="EDEDED"/>
          </a:solidFill>
          <a:ln w="12700" cap="flat" cmpd="sng">
            <a:solidFill>
              <a:srgbClr val="FFFEF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1"/>
          </p:nvPr>
        </p:nvSpPr>
        <p:spPr>
          <a:xfrm>
            <a:off x="382588" y="1803400"/>
            <a:ext cx="11356975" cy="143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8" name="Google Shape;48;p26"/>
          <p:cNvGrpSpPr/>
          <p:nvPr/>
        </p:nvGrpSpPr>
        <p:grpSpPr>
          <a:xfrm>
            <a:off x="1144639" y="3481518"/>
            <a:ext cx="2893961" cy="2706771"/>
            <a:chOff x="1144639" y="3481518"/>
            <a:chExt cx="2893961" cy="2706771"/>
          </a:xfrm>
        </p:grpSpPr>
        <p:sp>
          <p:nvSpPr>
            <p:cNvPr id="49" name="Google Shape;49;p26"/>
            <p:cNvSpPr/>
            <p:nvPr/>
          </p:nvSpPr>
          <p:spPr>
            <a:xfrm>
              <a:off x="1144639" y="3927002"/>
              <a:ext cx="2893961" cy="2261287"/>
            </a:xfrm>
            <a:prstGeom prst="rect">
              <a:avLst/>
            </a:prstGeom>
            <a:solidFill>
              <a:srgbClr val="073393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" name="Google Shape;50;p26"/>
            <p:cNvSpPr/>
            <p:nvPr/>
          </p:nvSpPr>
          <p:spPr>
            <a:xfrm>
              <a:off x="1905819" y="3481518"/>
              <a:ext cx="1371600" cy="1072551"/>
            </a:xfrm>
            <a:prstGeom prst="flowChartConnector">
              <a:avLst/>
            </a:prstGeom>
            <a:noFill/>
            <a:ln w="76200" cap="flat" cmpd="sng">
              <a:solidFill>
                <a:srgbClr val="FFFEF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51" name="Google Shape;51;p26"/>
          <p:cNvGrpSpPr/>
          <p:nvPr/>
        </p:nvGrpSpPr>
        <p:grpSpPr>
          <a:xfrm>
            <a:off x="4398585" y="3471005"/>
            <a:ext cx="2893961" cy="2706771"/>
            <a:chOff x="1144639" y="3481518"/>
            <a:chExt cx="2893961" cy="2706771"/>
          </a:xfrm>
        </p:grpSpPr>
        <p:sp>
          <p:nvSpPr>
            <p:cNvPr id="52" name="Google Shape;52;p26"/>
            <p:cNvSpPr/>
            <p:nvPr/>
          </p:nvSpPr>
          <p:spPr>
            <a:xfrm>
              <a:off x="1144639" y="3927002"/>
              <a:ext cx="2893961" cy="2261287"/>
            </a:xfrm>
            <a:prstGeom prst="rect">
              <a:avLst/>
            </a:prstGeom>
            <a:solidFill>
              <a:srgbClr val="073393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" name="Google Shape;53;p26"/>
            <p:cNvSpPr/>
            <p:nvPr/>
          </p:nvSpPr>
          <p:spPr>
            <a:xfrm>
              <a:off x="1905819" y="3481518"/>
              <a:ext cx="1371600" cy="1072551"/>
            </a:xfrm>
            <a:prstGeom prst="flowChartConnector">
              <a:avLst/>
            </a:prstGeom>
            <a:noFill/>
            <a:ln w="76200" cap="flat" cmpd="sng">
              <a:solidFill>
                <a:srgbClr val="FFFEF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grpSp>
        <p:nvGrpSpPr>
          <p:cNvPr id="54" name="Google Shape;54;p26"/>
          <p:cNvGrpSpPr/>
          <p:nvPr/>
        </p:nvGrpSpPr>
        <p:grpSpPr>
          <a:xfrm>
            <a:off x="7541320" y="3457492"/>
            <a:ext cx="2893961" cy="2706771"/>
            <a:chOff x="1144639" y="3481518"/>
            <a:chExt cx="2893961" cy="2706771"/>
          </a:xfrm>
        </p:grpSpPr>
        <p:sp>
          <p:nvSpPr>
            <p:cNvPr id="55" name="Google Shape;55;p26"/>
            <p:cNvSpPr/>
            <p:nvPr/>
          </p:nvSpPr>
          <p:spPr>
            <a:xfrm>
              <a:off x="1144639" y="3927002"/>
              <a:ext cx="2893961" cy="2261287"/>
            </a:xfrm>
            <a:prstGeom prst="rect">
              <a:avLst/>
            </a:prstGeom>
            <a:solidFill>
              <a:srgbClr val="073393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" name="Google Shape;56;p26"/>
            <p:cNvSpPr/>
            <p:nvPr/>
          </p:nvSpPr>
          <p:spPr>
            <a:xfrm>
              <a:off x="1905819" y="3481518"/>
              <a:ext cx="1371600" cy="1072551"/>
            </a:xfrm>
            <a:prstGeom prst="flowChartConnector">
              <a:avLst/>
            </a:prstGeom>
            <a:noFill/>
            <a:ln w="76200" cap="flat" cmpd="sng">
              <a:solidFill>
                <a:srgbClr val="FFFEF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7" name="Google Shape;57;p26"/>
          <p:cNvSpPr txBox="1">
            <a:spLocks noGrp="1"/>
          </p:cNvSpPr>
          <p:nvPr>
            <p:ph type="body" idx="2"/>
          </p:nvPr>
        </p:nvSpPr>
        <p:spPr>
          <a:xfrm>
            <a:off x="2060699" y="3921475"/>
            <a:ext cx="1371599" cy="98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body" idx="3"/>
          </p:nvPr>
        </p:nvSpPr>
        <p:spPr>
          <a:xfrm>
            <a:off x="5347996" y="3902976"/>
            <a:ext cx="1371599" cy="98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body" idx="4"/>
          </p:nvPr>
        </p:nvSpPr>
        <p:spPr>
          <a:xfrm>
            <a:off x="8377881" y="3884557"/>
            <a:ext cx="1371599" cy="98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GSL">
  <p:cSld name="Picture GSL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>
            <a:spLocks noGrp="1"/>
          </p:cNvSpPr>
          <p:nvPr>
            <p:ph type="ctrTitle"/>
          </p:nvPr>
        </p:nvSpPr>
        <p:spPr>
          <a:xfrm>
            <a:off x="838200" y="1011044"/>
            <a:ext cx="5608320" cy="477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5" name="Google Shape;65;p27"/>
          <p:cNvSpPr>
            <a:spLocks noGrp="1"/>
          </p:cNvSpPr>
          <p:nvPr>
            <p:ph type="pic" idx="2"/>
          </p:nvPr>
        </p:nvSpPr>
        <p:spPr>
          <a:xfrm>
            <a:off x="763588" y="1939925"/>
            <a:ext cx="5683250" cy="4246563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7"/>
          <p:cNvSpPr/>
          <p:nvPr/>
        </p:nvSpPr>
        <p:spPr>
          <a:xfrm>
            <a:off x="6726803" y="1939925"/>
            <a:ext cx="438912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>
            <a:spLocks noGrp="1"/>
          </p:cNvSpPr>
          <p:nvPr>
            <p:ph type="title"/>
          </p:nvPr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 BKG GSL">
  <p:cSld name="Different BKG GSL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/>
          <p:nvPr/>
        </p:nvSpPr>
        <p:spPr>
          <a:xfrm>
            <a:off x="0" y="-22528"/>
            <a:ext cx="6337190" cy="688052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4" name="Google Shape;74;p29"/>
          <p:cNvSpPr txBox="1">
            <a:spLocks noGrp="1"/>
          </p:cNvSpPr>
          <p:nvPr>
            <p:ph type="title"/>
          </p:nvPr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393"/>
              </a:buClr>
              <a:buSzPts val="3000"/>
              <a:buFont typeface="Arial"/>
              <a:buNone/>
              <a:defRPr>
                <a:solidFill>
                  <a:srgbClr val="07339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>
            <a:off x="900113" y="2038350"/>
            <a:ext cx="4906962" cy="3633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body" idx="2"/>
          </p:nvPr>
        </p:nvSpPr>
        <p:spPr>
          <a:xfrm>
            <a:off x="7364413" y="1766888"/>
            <a:ext cx="4114800" cy="410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0"/>
          <p:cNvSpPr txBox="1">
            <a:spLocks noGrp="1"/>
          </p:cNvSpPr>
          <p:nvPr>
            <p:ph type="title"/>
          </p:nvPr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5" name="Google Shape;85;p30"/>
          <p:cNvSpPr>
            <a:spLocks noGrp="1"/>
          </p:cNvSpPr>
          <p:nvPr>
            <p:ph type="dgm" idx="2"/>
          </p:nvPr>
        </p:nvSpPr>
        <p:spPr>
          <a:xfrm>
            <a:off x="684213" y="1773238"/>
            <a:ext cx="7752121" cy="156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AD4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body" idx="1"/>
          </p:nvPr>
        </p:nvSpPr>
        <p:spPr>
          <a:xfrm>
            <a:off x="776288" y="3667125"/>
            <a:ext cx="7659687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1"/>
          <p:cNvSpPr txBox="1">
            <a:spLocks noGrp="1"/>
          </p:cNvSpPr>
          <p:nvPr>
            <p:ph type="title"/>
          </p:nvPr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AD4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" name="Google Shape;11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8799" y="1051571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2"/>
          <p:cNvPicPr preferRelativeResize="0">
            <a:picLocks noChangeAspect="1"/>
          </p:cNvPicPr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58071" y="-289269"/>
            <a:ext cx="2867049" cy="162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22"/>
          <p:cNvCxnSpPr/>
          <p:nvPr/>
        </p:nvCxnSpPr>
        <p:spPr>
          <a:xfrm>
            <a:off x="564543" y="1439182"/>
            <a:ext cx="107892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w_tc8tlEoBs?feature=oembed" TargetMode="Externa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.com/learn/lesson/capillary-action-plants-concept-importanc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97" y="5728001"/>
            <a:ext cx="1114293" cy="520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"/>
          <p:cNvGrpSpPr/>
          <p:nvPr/>
        </p:nvGrpSpPr>
        <p:grpSpPr>
          <a:xfrm>
            <a:off x="2552402" y="-3905867"/>
            <a:ext cx="15966550" cy="15966550"/>
            <a:chOff x="3956384" y="-8606736"/>
            <a:chExt cx="30173822" cy="30173822"/>
          </a:xfrm>
        </p:grpSpPr>
        <p:sp>
          <p:nvSpPr>
            <p:cNvPr id="100" name="Google Shape;100;p1"/>
            <p:cNvSpPr/>
            <p:nvPr/>
          </p:nvSpPr>
          <p:spPr>
            <a:xfrm>
              <a:off x="6252256" y="-6310864"/>
              <a:ext cx="25582078" cy="25582078"/>
            </a:xfrm>
            <a:prstGeom prst="ellipse">
              <a:avLst/>
            </a:prstGeom>
            <a:solidFill>
              <a:srgbClr val="073393">
                <a:alpha val="1568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3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3956384" y="-8606736"/>
              <a:ext cx="30173822" cy="30173822"/>
            </a:xfrm>
            <a:prstGeom prst="ellipse">
              <a:avLst/>
            </a:prstGeom>
            <a:noFill/>
            <a:ln w="38100" cap="flat" cmpd="sng">
              <a:solidFill>
                <a:srgbClr val="073393">
                  <a:alpha val="43921"/>
                </a:srgb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3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02" name="Google Shape;102;p1"/>
            <p:cNvPicPr preferRelativeResize="0"/>
            <p:nvPr/>
          </p:nvPicPr>
          <p:blipFill rotWithShape="1">
            <a:blip r:embed="rId4">
              <a:alphaModFix/>
            </a:blip>
            <a:srcRect l="26643" r="7031"/>
            <a:stretch/>
          </p:blipFill>
          <p:spPr>
            <a:xfrm>
              <a:off x="9250208" y="-3312913"/>
              <a:ext cx="19586175" cy="19586176"/>
            </a:xfrm>
            <a:custGeom>
              <a:avLst/>
              <a:gdLst/>
              <a:ahLst/>
              <a:cxnLst/>
              <a:rect l="l" t="t" r="r" b="b"/>
              <a:pathLst>
                <a:path w="19586175" h="19586176" extrusionOk="0">
                  <a:moveTo>
                    <a:pt x="9793087" y="0"/>
                  </a:moveTo>
                  <a:cubicBezTo>
                    <a:pt x="15201661" y="0"/>
                    <a:pt x="19586175" y="4384515"/>
                    <a:pt x="19586175" y="9793089"/>
                  </a:cubicBezTo>
                  <a:cubicBezTo>
                    <a:pt x="19586175" y="15201661"/>
                    <a:pt x="15201661" y="19586176"/>
                    <a:pt x="9793087" y="19586176"/>
                  </a:cubicBezTo>
                  <a:cubicBezTo>
                    <a:pt x="4384515" y="19586176"/>
                    <a:pt x="0" y="15201661"/>
                    <a:pt x="0" y="9793089"/>
                  </a:cubicBezTo>
                  <a:cubicBezTo>
                    <a:pt x="0" y="4384515"/>
                    <a:pt x="4384515" y="0"/>
                    <a:pt x="9793087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03" name="Google Shape;103;p1"/>
            <p:cNvSpPr/>
            <p:nvPr/>
          </p:nvSpPr>
          <p:spPr>
            <a:xfrm>
              <a:off x="9250207" y="-3312913"/>
              <a:ext cx="19586176" cy="19586176"/>
            </a:xfrm>
            <a:prstGeom prst="ellipse">
              <a:avLst/>
            </a:prstGeom>
            <a:solidFill>
              <a:srgbClr val="073393">
                <a:alpha val="5882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3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4" name="Google Shape;104;p1"/>
          <p:cNvSpPr/>
          <p:nvPr/>
        </p:nvSpPr>
        <p:spPr>
          <a:xfrm>
            <a:off x="553564" y="2289042"/>
            <a:ext cx="1933703" cy="325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375" tIns="24175" rIns="48375" bIns="2417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rgbClr val="FFAD40"/>
                </a:solidFill>
                <a:latin typeface="Avenir"/>
                <a:ea typeface="Avenir"/>
                <a:cs typeface="Avenir"/>
                <a:sym typeface="Avenir"/>
              </a:rPr>
              <a:t>Presentation by </a:t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5400" y="3771929"/>
            <a:ext cx="590600" cy="5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 l="20477" t="21358" r="19364" b="15616"/>
          <a:stretch/>
        </p:blipFill>
        <p:spPr>
          <a:xfrm>
            <a:off x="1225791" y="5636461"/>
            <a:ext cx="1458634" cy="859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906561" y="941685"/>
            <a:ext cx="4113747" cy="115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375" tIns="24175" rIns="48375" bIns="2417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none" strike="noStrike" cap="none">
                <a:solidFill>
                  <a:srgbClr val="073393"/>
                </a:solidFill>
                <a:latin typeface="Avenir"/>
                <a:ea typeface="Avenir"/>
                <a:cs typeface="Avenir"/>
                <a:sym typeface="Avenir"/>
              </a:rPr>
              <a:t>Capillary Action in Plants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/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393"/>
              </a:buClr>
              <a:buSzPct val="100000"/>
              <a:buFont typeface="Arial"/>
              <a:buNone/>
            </a:pPr>
            <a:r>
              <a:rPr lang="en-IN" sz="3000" dirty="0">
                <a:solidFill>
                  <a:srgbClr val="073393"/>
                </a:solidFill>
                <a:latin typeface="Arial"/>
                <a:ea typeface="Arial"/>
                <a:cs typeface="Arial"/>
                <a:sym typeface="Arial"/>
              </a:rPr>
              <a:t>Capillary Action in Plants</a:t>
            </a:r>
            <a:endParaRPr sz="3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679448" y="1592263"/>
            <a:ext cx="11903077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D8B9"/>
              </a:buClr>
              <a:buSzPts val="3600"/>
              <a:buFont typeface="Arial"/>
              <a:buNone/>
            </a:pPr>
            <a:r>
              <a:rPr lang="en-IN" sz="2700" dirty="0">
                <a:solidFill>
                  <a:srgbClr val="073393"/>
                </a:solidFill>
                <a:sym typeface="Avenir"/>
              </a:rPr>
              <a:t>What do you think will happen here</a:t>
            </a:r>
            <a:endParaRPr sz="2700" dirty="0">
              <a:solidFill>
                <a:srgbClr val="073393"/>
              </a:solidFill>
            </a:endParaRPr>
          </a:p>
        </p:txBody>
      </p:sp>
      <p:pic>
        <p:nvPicPr>
          <p:cNvPr id="2" name="Online Media 1" title="Capillary action in plants experiment with paper towel - Science experiments for kids">
            <a:hlinkClick r:id="" action="ppaction://media"/>
            <a:extLst>
              <a:ext uri="{FF2B5EF4-FFF2-40B4-BE49-F238E27FC236}">
                <a16:creationId xmlns:a16="http://schemas.microsoft.com/office/drawing/2014/main" id="{59216821-24C3-40AE-8DB3-BA8D5F13EF1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429283" y="2601523"/>
            <a:ext cx="6243002" cy="3527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393"/>
              </a:buClr>
              <a:buSzPct val="100000"/>
              <a:buFont typeface="Arial"/>
              <a:buNone/>
            </a:pPr>
            <a:r>
              <a:rPr lang="en-IN" sz="3000" b="0" i="0" u="none" strike="noStrike" cap="none" dirty="0">
                <a:solidFill>
                  <a:srgbClr val="073393"/>
                </a:solidFill>
                <a:latin typeface="Arial"/>
                <a:ea typeface="Arial"/>
                <a:cs typeface="Arial"/>
                <a:sym typeface="Arial"/>
              </a:rPr>
              <a:t>Capillary Action in Plants</a:t>
            </a: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79449" y="1592263"/>
            <a:ext cx="10321926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D8B9"/>
              </a:buClr>
              <a:buSzPts val="3600"/>
              <a:buFont typeface="Arial"/>
              <a:buNone/>
            </a:pPr>
            <a:r>
              <a:rPr lang="en-IN" sz="2700" dirty="0">
                <a:solidFill>
                  <a:srgbClr val="073393"/>
                </a:solidFill>
                <a:sym typeface="Avenir"/>
              </a:rPr>
              <a:t>What is this phenomenon of preparing food in plants called as?</a:t>
            </a:r>
            <a:endParaRPr sz="2700" dirty="0">
              <a:solidFill>
                <a:srgbClr val="073393"/>
              </a:solidFill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8744339" y="3091553"/>
            <a:ext cx="2131943" cy="674894"/>
          </a:xfrm>
          <a:prstGeom prst="roundRect">
            <a:avLst>
              <a:gd name="adj" fmla="val 16667"/>
            </a:avLst>
          </a:prstGeom>
          <a:solidFill>
            <a:srgbClr val="FFAD4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Photosynthesis</a:t>
            </a:r>
            <a:endParaRPr/>
          </a:p>
        </p:txBody>
      </p:sp>
      <p:pic>
        <p:nvPicPr>
          <p:cNvPr id="124" name="Google Shape;124;p3" descr="Diagram showing process of photosynthesis in plant"/>
          <p:cNvPicPr preferRelativeResize="0"/>
          <p:nvPr/>
        </p:nvPicPr>
        <p:blipFill rotWithShape="1">
          <a:blip r:embed="rId3">
            <a:alphaModFix/>
          </a:blip>
          <a:srcRect t="13276" b="9704"/>
          <a:stretch/>
        </p:blipFill>
        <p:spPr>
          <a:xfrm>
            <a:off x="3286125" y="2411206"/>
            <a:ext cx="4848225" cy="3626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393"/>
              </a:buClr>
              <a:buSzPct val="100000"/>
              <a:buFont typeface="Arial"/>
              <a:buNone/>
            </a:pPr>
            <a:r>
              <a:rPr lang="en-IN" sz="3000" b="0" i="0" u="none" strike="noStrike" cap="none">
                <a:solidFill>
                  <a:srgbClr val="073393"/>
                </a:solidFill>
                <a:latin typeface="Arial"/>
                <a:ea typeface="Arial"/>
                <a:cs typeface="Arial"/>
                <a:sym typeface="Arial"/>
              </a:rPr>
              <a:t>Capillary Action in Plants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76944" y="1642188"/>
            <a:ext cx="12878400" cy="9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393"/>
              </a:buClr>
              <a:buSzPts val="3600"/>
              <a:buFont typeface="Arial"/>
              <a:buNone/>
            </a:pPr>
            <a:r>
              <a:rPr lang="en-IN" sz="2700" dirty="0">
                <a:solidFill>
                  <a:srgbClr val="073393"/>
                </a:solidFill>
                <a:sym typeface="Avenir"/>
              </a:rPr>
              <a:t>What are the essential things required for Photosynthesis?</a:t>
            </a:r>
            <a:endParaRPr sz="2700" dirty="0">
              <a:solidFill>
                <a:srgbClr val="073393"/>
              </a:solidFill>
            </a:endParaRPr>
          </a:p>
        </p:txBody>
      </p:sp>
      <p:pic>
        <p:nvPicPr>
          <p:cNvPr id="131" name="Google Shape;131;p4" descr="A group of potted plants from a shelf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957" y="2458831"/>
            <a:ext cx="5882308" cy="3921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 descr="A person holding a plan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8481" y="2438401"/>
            <a:ext cx="2627978" cy="394196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9563100" y="2458831"/>
            <a:ext cx="2131943" cy="674894"/>
          </a:xfrm>
          <a:prstGeom prst="roundRect">
            <a:avLst>
              <a:gd name="adj" fmla="val 16667"/>
            </a:avLst>
          </a:prstGeom>
          <a:solidFill>
            <a:srgbClr val="FFAD4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Sunlight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563099" y="3471418"/>
            <a:ext cx="2131943" cy="674894"/>
          </a:xfrm>
          <a:prstGeom prst="roundRect">
            <a:avLst>
              <a:gd name="adj" fmla="val 16667"/>
            </a:avLst>
          </a:prstGeom>
          <a:solidFill>
            <a:srgbClr val="FFAD4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Water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9563099" y="4590843"/>
            <a:ext cx="2131943" cy="674894"/>
          </a:xfrm>
          <a:prstGeom prst="roundRect">
            <a:avLst>
              <a:gd name="adj" fmla="val 16667"/>
            </a:avLst>
          </a:prstGeom>
          <a:solidFill>
            <a:srgbClr val="FFAD4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Carbondioxide</a:t>
            </a: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/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393"/>
              </a:buClr>
              <a:buSzPct val="100000"/>
              <a:buFont typeface="Arial"/>
              <a:buNone/>
            </a:pPr>
            <a:r>
              <a:rPr lang="en-IN" sz="3000">
                <a:solidFill>
                  <a:srgbClr val="073393"/>
                </a:solidFill>
                <a:latin typeface="Arial"/>
                <a:ea typeface="Arial"/>
                <a:cs typeface="Arial"/>
                <a:sym typeface="Arial"/>
              </a:rPr>
              <a:t>Capillary Action in Plants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679448" y="1592263"/>
            <a:ext cx="11903077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D8B9"/>
              </a:buClr>
              <a:buSzPts val="3600"/>
              <a:buFont typeface="Arial"/>
              <a:buNone/>
            </a:pPr>
            <a:r>
              <a:rPr lang="en-IN" sz="3600">
                <a:solidFill>
                  <a:srgbClr val="00D8B9"/>
                </a:solidFill>
                <a:latin typeface="Avenir"/>
                <a:ea typeface="Avenir"/>
                <a:cs typeface="Avenir"/>
                <a:sym typeface="Avenir"/>
              </a:rPr>
              <a:t>Capillary Action in Action</a:t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507205" y="2343835"/>
            <a:ext cx="87987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https://study.com/learn/lesson/capillary-action-plants-concept-importance.html</a:t>
            </a: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/>
        </p:nvSpPr>
        <p:spPr>
          <a:xfrm>
            <a:off x="775996" y="990275"/>
            <a:ext cx="10515600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393"/>
              </a:buClr>
              <a:buSzPct val="100000"/>
              <a:buFont typeface="Arial"/>
              <a:buNone/>
            </a:pPr>
            <a:r>
              <a:rPr lang="en-IN" sz="3000" dirty="0">
                <a:solidFill>
                  <a:srgbClr val="073393"/>
                </a:solidFill>
                <a:latin typeface="Arial"/>
                <a:ea typeface="Arial"/>
                <a:cs typeface="Arial"/>
                <a:sym typeface="Arial"/>
              </a:rPr>
              <a:t>Capillary Action in Plants</a:t>
            </a:r>
            <a:endParaRPr sz="3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679448" y="1592263"/>
            <a:ext cx="11903077" cy="4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D8B9"/>
              </a:buClr>
              <a:buSzPts val="2800"/>
              <a:buFont typeface="Arial"/>
              <a:buNone/>
            </a:pPr>
            <a:r>
              <a:rPr lang="en-IN" sz="2700" dirty="0">
                <a:solidFill>
                  <a:srgbClr val="073393"/>
                </a:solidFill>
                <a:sym typeface="Avenir"/>
              </a:rPr>
              <a:t>My Make &amp; Take Activity</a:t>
            </a:r>
            <a:endParaRPr sz="2700" dirty="0">
              <a:solidFill>
                <a:srgbClr val="073393"/>
              </a:solidFill>
              <a:sym typeface="Avenir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1565275" y="2048232"/>
            <a:ext cx="5543550" cy="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D8B9"/>
              </a:buClr>
              <a:buSzPts val="2400"/>
              <a:buFont typeface="Arial"/>
              <a:buNone/>
            </a:pPr>
            <a:r>
              <a:rPr lang="en-IN" sz="2700" dirty="0">
                <a:solidFill>
                  <a:srgbClr val="073393"/>
                </a:solidFill>
                <a:sym typeface="Avenir"/>
              </a:rPr>
              <a:t>Capillary Action in Flower</a:t>
            </a:r>
            <a:endParaRPr sz="2700" dirty="0">
              <a:solidFill>
                <a:srgbClr val="073393"/>
              </a:solidFill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1081086" y="2620949"/>
            <a:ext cx="4062414" cy="168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AD40"/>
              </a:buClr>
              <a:buSzPts val="2400"/>
              <a:buFont typeface="Arial"/>
              <a:buNone/>
            </a:pPr>
            <a:r>
              <a:rPr lang="en-IN" sz="2400" dirty="0">
                <a:solidFill>
                  <a:srgbClr val="FFAD40"/>
                </a:solidFill>
                <a:latin typeface="Avenir"/>
                <a:ea typeface="Avenir"/>
                <a:cs typeface="Avenir"/>
                <a:sym typeface="Avenir"/>
              </a:rPr>
              <a:t>What would you need: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 white flowers (or any light-coloured)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4 glasses or jars of water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4 different food colours</a:t>
            </a:r>
            <a:endParaRPr dirty="0"/>
          </a:p>
          <a:p>
            <a:pPr marL="228600" marR="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AD4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97" y="5728001"/>
            <a:ext cx="1114293" cy="520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15"/>
          <p:cNvGrpSpPr/>
          <p:nvPr/>
        </p:nvGrpSpPr>
        <p:grpSpPr>
          <a:xfrm>
            <a:off x="2552402" y="-3905867"/>
            <a:ext cx="15966550" cy="15966550"/>
            <a:chOff x="3956384" y="-8606736"/>
            <a:chExt cx="30173822" cy="30173822"/>
          </a:xfrm>
        </p:grpSpPr>
        <p:sp>
          <p:nvSpPr>
            <p:cNvPr id="233" name="Google Shape;233;p15"/>
            <p:cNvSpPr/>
            <p:nvPr/>
          </p:nvSpPr>
          <p:spPr>
            <a:xfrm>
              <a:off x="6252256" y="-6310864"/>
              <a:ext cx="25582078" cy="25582078"/>
            </a:xfrm>
            <a:prstGeom prst="ellipse">
              <a:avLst/>
            </a:prstGeom>
            <a:solidFill>
              <a:srgbClr val="073393">
                <a:alpha val="15686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3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3956384" y="-8606736"/>
              <a:ext cx="30173822" cy="30173822"/>
            </a:xfrm>
            <a:prstGeom prst="ellipse">
              <a:avLst/>
            </a:prstGeom>
            <a:noFill/>
            <a:ln w="38100" cap="flat" cmpd="sng">
              <a:solidFill>
                <a:srgbClr val="073393">
                  <a:alpha val="43921"/>
                </a:srgb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3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35" name="Google Shape;235;p15"/>
            <p:cNvPicPr preferRelativeResize="0"/>
            <p:nvPr/>
          </p:nvPicPr>
          <p:blipFill rotWithShape="1">
            <a:blip r:embed="rId4">
              <a:alphaModFix/>
            </a:blip>
            <a:srcRect l="26643" r="7031"/>
            <a:stretch/>
          </p:blipFill>
          <p:spPr>
            <a:xfrm>
              <a:off x="9250208" y="-3312913"/>
              <a:ext cx="19586175" cy="19586176"/>
            </a:xfrm>
            <a:custGeom>
              <a:avLst/>
              <a:gdLst/>
              <a:ahLst/>
              <a:cxnLst/>
              <a:rect l="l" t="t" r="r" b="b"/>
              <a:pathLst>
                <a:path w="19586175" h="19586176" extrusionOk="0">
                  <a:moveTo>
                    <a:pt x="9793087" y="0"/>
                  </a:moveTo>
                  <a:cubicBezTo>
                    <a:pt x="15201661" y="0"/>
                    <a:pt x="19586175" y="4384515"/>
                    <a:pt x="19586175" y="9793089"/>
                  </a:cubicBezTo>
                  <a:cubicBezTo>
                    <a:pt x="19586175" y="15201661"/>
                    <a:pt x="15201661" y="19586176"/>
                    <a:pt x="9793087" y="19586176"/>
                  </a:cubicBezTo>
                  <a:cubicBezTo>
                    <a:pt x="4384515" y="19586176"/>
                    <a:pt x="0" y="15201661"/>
                    <a:pt x="0" y="9793089"/>
                  </a:cubicBezTo>
                  <a:cubicBezTo>
                    <a:pt x="0" y="4384515"/>
                    <a:pt x="4384515" y="0"/>
                    <a:pt x="9793087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236" name="Google Shape;236;p15"/>
            <p:cNvSpPr/>
            <p:nvPr/>
          </p:nvSpPr>
          <p:spPr>
            <a:xfrm>
              <a:off x="9250207" y="-3312913"/>
              <a:ext cx="19586176" cy="19586176"/>
            </a:xfrm>
            <a:prstGeom prst="ellipse">
              <a:avLst/>
            </a:prstGeom>
            <a:solidFill>
              <a:srgbClr val="073393">
                <a:alpha val="5882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3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id="237" name="Google Shape;237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1288" y="917701"/>
            <a:ext cx="590600" cy="5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/>
          <p:cNvPicPr preferRelativeResize="0"/>
          <p:nvPr/>
        </p:nvPicPr>
        <p:blipFill rotWithShape="1">
          <a:blip r:embed="rId6">
            <a:alphaModFix/>
          </a:blip>
          <a:srcRect l="20477" t="21358" r="19364" b="15616"/>
          <a:stretch/>
        </p:blipFill>
        <p:spPr>
          <a:xfrm>
            <a:off x="1225791" y="5636461"/>
            <a:ext cx="1458634" cy="85959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/>
          <p:nvPr/>
        </p:nvSpPr>
        <p:spPr>
          <a:xfrm>
            <a:off x="576588" y="3169073"/>
            <a:ext cx="4113747" cy="602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375" tIns="24175" rIns="48375" bIns="2417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073393"/>
                </a:solidFill>
                <a:latin typeface="Avenir"/>
                <a:ea typeface="Avenir"/>
                <a:cs typeface="Avenir"/>
                <a:sym typeface="Avenir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109</Words>
  <Application>Microsoft Office PowerPoint</Application>
  <PresentationFormat>Widescreen</PresentationFormat>
  <Paragraphs>24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</vt:lpstr>
      <vt:lpstr>Noto Sans Symbols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Shubhra Rishi/GSL</dc:creator>
  <cp:lastModifiedBy>Manali Behere/GSL</cp:lastModifiedBy>
  <cp:revision>2</cp:revision>
  <dcterms:created xsi:type="dcterms:W3CDTF">2022-12-29T05:16:56Z</dcterms:created>
  <dcterms:modified xsi:type="dcterms:W3CDTF">2026-03-05T10:08:50Z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0x01010007CF167447589F44BC71E1B856BE8BD5</vt:lpwstr>
  </property>
</Properties>
</file>